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1" r:id="rId4"/>
    <p:sldId id="285" r:id="rId5"/>
    <p:sldId id="288" r:id="rId6"/>
    <p:sldId id="286" r:id="rId7"/>
    <p:sldId id="287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4D2D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35" autoAdjust="0"/>
    <p:restoredTop sz="83548" autoAdjust="0"/>
  </p:normalViewPr>
  <p:slideViewPr>
    <p:cSldViewPr snapToGrid="0">
      <p:cViewPr varScale="1">
        <p:scale>
          <a:sx n="94" d="100"/>
          <a:sy n="94" d="100"/>
        </p:scale>
        <p:origin x="7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仁傑" userId="fb3dad23-bb68-456d-a8c0-f50b3ad46e8b" providerId="ADAL" clId="{F9F6E957-7118-41DA-9561-A2D1A84A16C0}"/>
    <pc:docChg chg="undo custSel modSld">
      <pc:chgData name="吳仁傑" userId="fb3dad23-bb68-456d-a8c0-f50b3ad46e8b" providerId="ADAL" clId="{F9F6E957-7118-41DA-9561-A2D1A84A16C0}" dt="2026-09-06T14:14:52.539" v="53" actId="20577"/>
      <pc:docMkLst>
        <pc:docMk/>
      </pc:docMkLst>
      <pc:sldChg chg="modSp mod">
        <pc:chgData name="吳仁傑" userId="fb3dad23-bb68-456d-a8c0-f50b3ad46e8b" providerId="ADAL" clId="{F9F6E957-7118-41DA-9561-A2D1A84A16C0}" dt="2026-09-04T14:18:59.946" v="49" actId="20577"/>
        <pc:sldMkLst>
          <pc:docMk/>
          <pc:sldMk cId="468552641" sldId="259"/>
        </pc:sldMkLst>
        <pc:spChg chg="mod">
          <ac:chgData name="吳仁傑" userId="fb3dad23-bb68-456d-a8c0-f50b3ad46e8b" providerId="ADAL" clId="{F9F6E957-7118-41DA-9561-A2D1A84A16C0}" dt="2026-09-04T14:18:59.946" v="49" actId="20577"/>
          <ac:spMkLst>
            <pc:docMk/>
            <pc:sldMk cId="468552641" sldId="259"/>
            <ac:spMk id="11" creationId="{00000000-0000-0000-0000-000000000000}"/>
          </ac:spMkLst>
        </pc:spChg>
      </pc:sldChg>
      <pc:sldChg chg="modSp mod">
        <pc:chgData name="吳仁傑" userId="fb3dad23-bb68-456d-a8c0-f50b3ad46e8b" providerId="ADAL" clId="{F9F6E957-7118-41DA-9561-A2D1A84A16C0}" dt="2026-09-01T08:12:51.836" v="38" actId="1076"/>
        <pc:sldMkLst>
          <pc:docMk/>
          <pc:sldMk cId="2299376709" sldId="285"/>
        </pc:sldMkLst>
        <pc:spChg chg="mod">
          <ac:chgData name="吳仁傑" userId="fb3dad23-bb68-456d-a8c0-f50b3ad46e8b" providerId="ADAL" clId="{F9F6E957-7118-41DA-9561-A2D1A84A16C0}" dt="2026-09-01T08:12:51.836" v="38" actId="1076"/>
          <ac:spMkLst>
            <pc:docMk/>
            <pc:sldMk cId="2299376709" sldId="285"/>
            <ac:spMk id="9" creationId="{43CA4AB7-F7B8-04AA-80CA-9712304FD0B3}"/>
          </ac:spMkLst>
        </pc:spChg>
        <pc:picChg chg="mod">
          <ac:chgData name="吳仁傑" userId="fb3dad23-bb68-456d-a8c0-f50b3ad46e8b" providerId="ADAL" clId="{F9F6E957-7118-41DA-9561-A2D1A84A16C0}" dt="2026-09-01T08:12:49.916" v="37" actId="1076"/>
          <ac:picMkLst>
            <pc:docMk/>
            <pc:sldMk cId="2299376709" sldId="285"/>
            <ac:picMk id="1026" creationId="{8D7E03C3-4ACF-D587-714B-3CF83CED04C0}"/>
          </ac:picMkLst>
        </pc:picChg>
      </pc:sldChg>
      <pc:sldChg chg="modSp mod">
        <pc:chgData name="吳仁傑" userId="fb3dad23-bb68-456d-a8c0-f50b3ad46e8b" providerId="ADAL" clId="{F9F6E957-7118-41DA-9561-A2D1A84A16C0}" dt="2026-09-06T14:14:52.539" v="53" actId="20577"/>
        <pc:sldMkLst>
          <pc:docMk/>
          <pc:sldMk cId="4170462539" sldId="286"/>
        </pc:sldMkLst>
        <pc:spChg chg="mod">
          <ac:chgData name="吳仁傑" userId="fb3dad23-bb68-456d-a8c0-f50b3ad46e8b" providerId="ADAL" clId="{F9F6E957-7118-41DA-9561-A2D1A84A16C0}" dt="2026-09-06T14:14:52.539" v="53" actId="20577"/>
          <ac:spMkLst>
            <pc:docMk/>
            <pc:sldMk cId="4170462539" sldId="286"/>
            <ac:spMk id="5" creationId="{25CB71D0-3745-6120-1E15-15A5D2A63A43}"/>
          </ac:spMkLst>
        </pc:spChg>
      </pc:sldChg>
      <pc:sldChg chg="addSp delSp modSp mod">
        <pc:chgData name="吳仁傑" userId="fb3dad23-bb68-456d-a8c0-f50b3ad46e8b" providerId="ADAL" clId="{F9F6E957-7118-41DA-9561-A2D1A84A16C0}" dt="2026-09-01T08:11:58.781" v="30" actId="20577"/>
        <pc:sldMkLst>
          <pc:docMk/>
          <pc:sldMk cId="4236219988" sldId="287"/>
        </pc:sldMkLst>
        <pc:spChg chg="mod">
          <ac:chgData name="吳仁傑" userId="fb3dad23-bb68-456d-a8c0-f50b3ad46e8b" providerId="ADAL" clId="{F9F6E957-7118-41DA-9561-A2D1A84A16C0}" dt="2026-09-01T08:10:12.829" v="29"/>
          <ac:spMkLst>
            <pc:docMk/>
            <pc:sldMk cId="4236219988" sldId="287"/>
            <ac:spMk id="8" creationId="{1D8221C6-5E02-0A19-7FA3-CF6EB73B2C6A}"/>
          </ac:spMkLst>
        </pc:spChg>
        <pc:spChg chg="mod">
          <ac:chgData name="吳仁傑" userId="fb3dad23-bb68-456d-a8c0-f50b3ad46e8b" providerId="ADAL" clId="{F9F6E957-7118-41DA-9561-A2D1A84A16C0}" dt="2026-09-01T08:11:58.781" v="30" actId="20577"/>
          <ac:spMkLst>
            <pc:docMk/>
            <pc:sldMk cId="4236219988" sldId="287"/>
            <ac:spMk id="9" creationId="{BBE471CD-D07B-51BF-4ED8-A91DE23536CD}"/>
          </ac:spMkLst>
        </pc:spChg>
        <pc:graphicFrameChg chg="add del mod">
          <ac:chgData name="吳仁傑" userId="fb3dad23-bb68-456d-a8c0-f50b3ad46e8b" providerId="ADAL" clId="{F9F6E957-7118-41DA-9561-A2D1A84A16C0}" dt="2026-09-01T08:09:42.098" v="19"/>
          <ac:graphicFrameMkLst>
            <pc:docMk/>
            <pc:sldMk cId="4236219988" sldId="287"/>
            <ac:graphicFrameMk id="2" creationId="{BA2AD8FF-999E-4A36-BD74-AE7459FEBF06}"/>
          </ac:graphicFrameMkLst>
        </pc:graphicFrameChg>
        <pc:graphicFrameChg chg="add del mod">
          <ac:chgData name="吳仁傑" userId="fb3dad23-bb68-456d-a8c0-f50b3ad46e8b" providerId="ADAL" clId="{F9F6E957-7118-41DA-9561-A2D1A84A16C0}" dt="2026-09-01T08:09:43.894" v="21"/>
          <ac:graphicFrameMkLst>
            <pc:docMk/>
            <pc:sldMk cId="4236219988" sldId="287"/>
            <ac:graphicFrameMk id="3" creationId="{1978BB66-DCDE-4E78-A481-2BC0383242FB}"/>
          </ac:graphicFrameMkLst>
        </pc:graphicFrameChg>
        <pc:graphicFrameChg chg="add del mod">
          <ac:chgData name="吳仁傑" userId="fb3dad23-bb68-456d-a8c0-f50b3ad46e8b" providerId="ADAL" clId="{F9F6E957-7118-41DA-9561-A2D1A84A16C0}" dt="2026-09-01T08:09:46.814" v="23"/>
          <ac:graphicFrameMkLst>
            <pc:docMk/>
            <pc:sldMk cId="4236219988" sldId="287"/>
            <ac:graphicFrameMk id="4" creationId="{F3B3FD9C-00F6-4D62-B5F1-325197645C1B}"/>
          </ac:graphicFrameMkLst>
        </pc:graphicFrameChg>
      </pc:sldChg>
      <pc:sldChg chg="modSp mod">
        <pc:chgData name="吳仁傑" userId="fb3dad23-bb68-456d-a8c0-f50b3ad46e8b" providerId="ADAL" clId="{F9F6E957-7118-41DA-9561-A2D1A84A16C0}" dt="2026-09-01T08:13:29.741" v="47" actId="1076"/>
        <pc:sldMkLst>
          <pc:docMk/>
          <pc:sldMk cId="1904361167" sldId="288"/>
        </pc:sldMkLst>
        <pc:picChg chg="mod">
          <ac:chgData name="吳仁傑" userId="fb3dad23-bb68-456d-a8c0-f50b3ad46e8b" providerId="ADAL" clId="{F9F6E957-7118-41DA-9561-A2D1A84A16C0}" dt="2026-09-01T08:13:21.069" v="45" actId="1076"/>
          <ac:picMkLst>
            <pc:docMk/>
            <pc:sldMk cId="1904361167" sldId="288"/>
            <ac:picMk id="7" creationId="{F8B74CC7-B1CF-0437-547F-FF53CA755978}"/>
          </ac:picMkLst>
        </pc:picChg>
        <pc:picChg chg="mod">
          <ac:chgData name="吳仁傑" userId="fb3dad23-bb68-456d-a8c0-f50b3ad46e8b" providerId="ADAL" clId="{F9F6E957-7118-41DA-9561-A2D1A84A16C0}" dt="2026-09-01T08:13:29.741" v="47" actId="1076"/>
          <ac:picMkLst>
            <pc:docMk/>
            <pc:sldMk cId="1904361167" sldId="288"/>
            <ac:picMk id="1028" creationId="{67A08B63-F5B2-D276-BD58-D7EA2381B172}"/>
          </ac:picMkLst>
        </pc:picChg>
        <pc:picChg chg="mod">
          <ac:chgData name="吳仁傑" userId="fb3dad23-bb68-456d-a8c0-f50b3ad46e8b" providerId="ADAL" clId="{F9F6E957-7118-41DA-9561-A2D1A84A16C0}" dt="2026-09-01T08:13:29.741" v="47" actId="1076"/>
          <ac:picMkLst>
            <pc:docMk/>
            <pc:sldMk cId="1904361167" sldId="288"/>
            <ac:picMk id="1034" creationId="{970BAE7A-2AEB-5904-2FF2-DCEDABC0FE07}"/>
          </ac:picMkLst>
        </pc:picChg>
        <pc:picChg chg="mod">
          <ac:chgData name="吳仁傑" userId="fb3dad23-bb68-456d-a8c0-f50b3ad46e8b" providerId="ADAL" clId="{F9F6E957-7118-41DA-9561-A2D1A84A16C0}" dt="2026-09-01T08:13:29.741" v="47" actId="1076"/>
          <ac:picMkLst>
            <pc:docMk/>
            <pc:sldMk cId="1904361167" sldId="288"/>
            <ac:picMk id="1036" creationId="{43639884-4B17-1E71-6E3C-C0603F6A7D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5512E-F84E-4531-96CD-898E3758A1A9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3A315-C00B-4338-9756-B113D3866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3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3A315-C00B-4338-9756-B113D3866B4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399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3A315-C00B-4338-9756-B113D3866B4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27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3A315-C00B-4338-9756-B113D3866B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03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AF1E-5FF6-6A33-6225-1E6F5CDE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B7B619-1D13-ABC0-8339-F1C0D6923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84174C-3660-4F71-741F-D39686EE2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deep learning </a:t>
            </a:r>
            <a:r>
              <a:rPr lang="zh-TW" altLang="en-US" dirty="0"/>
              <a:t>很多運算會放到 </a:t>
            </a:r>
            <a:r>
              <a:rPr lang="en-US" altLang="zh-TW" dirty="0"/>
              <a:t>GPU </a:t>
            </a:r>
            <a:r>
              <a:rPr lang="zh-TW" altLang="en-US" dirty="0"/>
              <a:t>上，</a:t>
            </a:r>
            <a:r>
              <a:rPr lang="en-US" altLang="zh-TW" dirty="0" err="1"/>
              <a:t>PyTorch</a:t>
            </a:r>
            <a:r>
              <a:rPr lang="en-US" altLang="zh-TW" dirty="0"/>
              <a:t> </a:t>
            </a:r>
            <a:r>
              <a:rPr lang="zh-TW" altLang="en-US" dirty="0"/>
              <a:t>有很完整的 </a:t>
            </a:r>
            <a:r>
              <a:rPr lang="en-US" altLang="zh-TW" dirty="0"/>
              <a:t>GPU </a:t>
            </a:r>
            <a:r>
              <a:rPr lang="zh-TW" altLang="en-US" dirty="0"/>
              <a:t>支援。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之後大家在訓練模型的時候，需要做 </a:t>
            </a:r>
            <a:r>
              <a:rPr lang="en-US" altLang="zh-TW" dirty="0"/>
              <a:t>backpropagation</a:t>
            </a:r>
            <a:r>
              <a:rPr lang="zh-TW" altLang="en-US" dirty="0"/>
              <a:t>、計算 </a:t>
            </a:r>
            <a:r>
              <a:rPr lang="en-US" altLang="zh-TW" dirty="0"/>
              <a:t>gradient</a:t>
            </a:r>
            <a:r>
              <a:rPr lang="zh-TW" altLang="en-US" dirty="0"/>
              <a:t>。</a:t>
            </a:r>
            <a:r>
              <a:rPr lang="en-US" altLang="zh-TW" dirty="0" err="1"/>
              <a:t>PyTorch</a:t>
            </a:r>
            <a:r>
              <a:rPr lang="en-US" altLang="zh-TW" dirty="0"/>
              <a:t> </a:t>
            </a:r>
            <a:r>
              <a:rPr lang="zh-TW" altLang="en-US" dirty="0"/>
              <a:t>可以幫我們處理這些事情，所以不需要每一層的 </a:t>
            </a:r>
            <a:r>
              <a:rPr lang="en-US" altLang="zh-TW" dirty="0"/>
              <a:t>gradient </a:t>
            </a:r>
            <a:r>
              <a:rPr lang="zh-TW" altLang="en-US" dirty="0"/>
              <a:t>都自己手動推導、自己實作。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 err="1"/>
              <a:t>PyTorch</a:t>
            </a:r>
            <a:r>
              <a:rPr lang="en-US" altLang="zh-TW" dirty="0"/>
              <a:t> </a:t>
            </a:r>
            <a:r>
              <a:rPr lang="zh-TW" altLang="en-US" dirty="0"/>
              <a:t>現在有非常大的使用者與研究社群，所以大家之後看到很多 </a:t>
            </a:r>
            <a:r>
              <a:rPr lang="en-US" altLang="zh-TW" dirty="0"/>
              <a:t>paper </a:t>
            </a:r>
            <a:r>
              <a:rPr lang="zh-TW" altLang="en-US" dirty="0"/>
              <a:t>的程式碼，也都很常是基於 </a:t>
            </a:r>
            <a:r>
              <a:rPr lang="en-US" altLang="zh-TW" dirty="0" err="1"/>
              <a:t>PyTorch</a:t>
            </a:r>
            <a:r>
              <a:rPr lang="zh-TW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BF25E8-7090-B16F-E953-8B21854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3A315-C00B-4338-9756-B113D3866B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747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5261-5F59-E505-9913-43639481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446430-4DD3-E9DA-F2E9-912850F32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B83BA4-C8AD-939D-A3D6-C2434E38D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844BBE-B0F3-CAF5-B80F-071DB294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3A315-C00B-4338-9756-B113D3866B4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085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E0BFD-7192-8961-2041-855B86958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C23FD-D412-94AC-9744-88D8847AB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BB2BBA-4DD3-94CA-6B63-D116235F4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79CF53-A2FE-3FD9-9C43-F5F8C88CB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3A315-C00B-4338-9756-B113D3866B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818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5AC4-512D-18D2-EEA4-D773AFBE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9185D-2D34-2A77-4C05-A5DCF20CD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D220AA-4624-6C72-F33E-AA26D2888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3B1E8-5F96-6B69-E157-B77077B52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3A315-C00B-4338-9756-B113D3866B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583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51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orch.org/docs/stable/index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wljurse.ai14@nycu.edu.t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immyli90719.ai14@nycu.edu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14076" y="2732531"/>
            <a:ext cx="6714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b="1" dirty="0">
                <a:solidFill>
                  <a:srgbClr val="654D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  <a:ea typeface="华文新魏" panose="02010800040101010101" pitchFamily="2" charset="-122"/>
              </a:rPr>
              <a:t>Deep</a:t>
            </a:r>
            <a:r>
              <a:rPr lang="zh-TW" altLang="en-US" sz="7200" b="1" dirty="0">
                <a:solidFill>
                  <a:srgbClr val="654D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  <a:ea typeface="华文新魏" panose="02010800040101010101" pitchFamily="2" charset="-122"/>
              </a:rPr>
              <a:t> </a:t>
            </a:r>
            <a:r>
              <a:rPr lang="en-US" altLang="zh-TW" sz="7200" b="1" dirty="0">
                <a:solidFill>
                  <a:srgbClr val="654D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  <a:ea typeface="华文新魏" panose="02010800040101010101" pitchFamily="2" charset="-122"/>
              </a:rPr>
              <a:t>Learning</a:t>
            </a:r>
            <a:endParaRPr lang="zh-CN" altLang="en-US" sz="7200" b="1" dirty="0">
              <a:solidFill>
                <a:srgbClr val="654D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  <a:ea typeface="华文新魏" panose="020108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333195" y="1377942"/>
            <a:ext cx="1506434" cy="1165792"/>
          </a:xfrm>
          <a:prstGeom prst="line">
            <a:avLst/>
          </a:prstGeom>
          <a:ln>
            <a:solidFill>
              <a:srgbClr val="7F6531"/>
            </a:solidFill>
            <a:head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8112434" y="655868"/>
            <a:ext cx="1287357" cy="942875"/>
          </a:xfrm>
          <a:prstGeom prst="line">
            <a:avLst/>
          </a:prstGeom>
          <a:ln w="28575">
            <a:gradFill>
              <a:gsLst>
                <a:gs pos="100000">
                  <a:srgbClr val="D0B786">
                    <a:alpha val="40000"/>
                  </a:srgbClr>
                </a:gs>
                <a:gs pos="0">
                  <a:srgbClr val="8A6E36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894141" y="1155025"/>
            <a:ext cx="1567543" cy="1165792"/>
          </a:xfrm>
          <a:prstGeom prst="line">
            <a:avLst/>
          </a:prstGeom>
          <a:ln>
            <a:gradFill>
              <a:gsLst>
                <a:gs pos="100000">
                  <a:srgbClr val="D0B786">
                    <a:alpha val="0"/>
                  </a:srgbClr>
                </a:gs>
                <a:gs pos="0">
                  <a:srgbClr val="8A6E36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839152" y="4354285"/>
            <a:ext cx="2279810" cy="341595"/>
          </a:xfrm>
          <a:prstGeom prst="rect">
            <a:avLst/>
          </a:prstGeom>
          <a:solidFill>
            <a:srgbClr val="E7E8E0"/>
          </a:solidFill>
          <a:ln>
            <a:solidFill>
              <a:srgbClr val="E7E8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6000" y="3921602"/>
            <a:ext cx="296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654D2D"/>
                </a:solidFill>
              </a:rPr>
              <a:t>NYCU</a:t>
            </a:r>
            <a:r>
              <a:rPr lang="zh-TW" altLang="en-US" sz="2000" dirty="0">
                <a:solidFill>
                  <a:srgbClr val="654D2D"/>
                </a:solidFill>
              </a:rPr>
              <a:t> </a:t>
            </a:r>
            <a:r>
              <a:rPr lang="en-US" altLang="zh-TW" sz="2000" dirty="0">
                <a:solidFill>
                  <a:srgbClr val="654D2D"/>
                </a:solidFill>
              </a:rPr>
              <a:t>AI college</a:t>
            </a:r>
            <a:r>
              <a:rPr lang="zh-TW" altLang="en-US" sz="2000" dirty="0">
                <a:solidFill>
                  <a:srgbClr val="654D2D"/>
                </a:solidFill>
              </a:rPr>
              <a:t> </a:t>
            </a:r>
            <a:r>
              <a:rPr lang="en-US" altLang="zh-TW" sz="2000">
                <a:solidFill>
                  <a:srgbClr val="654D2D"/>
                </a:solidFill>
              </a:rPr>
              <a:t>2026</a:t>
            </a:r>
            <a:r>
              <a:rPr lang="zh-TW" altLang="en-US" sz="2000">
                <a:solidFill>
                  <a:srgbClr val="654D2D"/>
                </a:solidFill>
              </a:rPr>
              <a:t> </a:t>
            </a:r>
            <a:r>
              <a:rPr lang="en-US" altLang="zh-TW" sz="2000" dirty="0">
                <a:solidFill>
                  <a:srgbClr val="654D2D"/>
                </a:solidFill>
              </a:rPr>
              <a:t>fall</a:t>
            </a:r>
            <a:endParaRPr lang="zh-CN" altLang="en-US" sz="2000" dirty="0">
              <a:solidFill>
                <a:srgbClr val="654D2D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1791159" y="5071503"/>
            <a:ext cx="1506434" cy="1165792"/>
          </a:xfrm>
          <a:prstGeom prst="line">
            <a:avLst/>
          </a:prstGeom>
          <a:ln>
            <a:solidFill>
              <a:srgbClr val="7F6531"/>
            </a:solidFill>
            <a:head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570398" y="4349429"/>
            <a:ext cx="1287357" cy="942875"/>
          </a:xfrm>
          <a:prstGeom prst="line">
            <a:avLst/>
          </a:prstGeom>
          <a:ln w="28575">
            <a:gradFill>
              <a:gsLst>
                <a:gs pos="100000">
                  <a:srgbClr val="D0B786">
                    <a:alpha val="40000"/>
                  </a:srgbClr>
                </a:gs>
                <a:gs pos="0">
                  <a:srgbClr val="8A6E36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2352105" y="4848586"/>
            <a:ext cx="1567543" cy="1165792"/>
          </a:xfrm>
          <a:prstGeom prst="line">
            <a:avLst/>
          </a:prstGeom>
          <a:ln>
            <a:gradFill>
              <a:gsLst>
                <a:gs pos="100000">
                  <a:srgbClr val="D0B786">
                    <a:alpha val="0"/>
                  </a:srgbClr>
                </a:gs>
                <a:gs pos="0">
                  <a:srgbClr val="8A6E36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552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70857" y="566057"/>
            <a:ext cx="544286" cy="544286"/>
          </a:xfrm>
          <a:prstGeom prst="rect">
            <a:avLst/>
          </a:prstGeom>
          <a:solidFill>
            <a:srgbClr val="8A6E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82056" y="566057"/>
            <a:ext cx="383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</a:t>
            </a:r>
            <a:r>
              <a:rPr lang="zh-TW" altLang="en-US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assignments</a:t>
            </a:r>
            <a:endParaRPr lang="zh-CN" altLang="en-US" sz="3200" b="1" dirty="0">
              <a:solidFill>
                <a:srgbClr val="8A6E3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582057" y="1110343"/>
            <a:ext cx="1494972" cy="0"/>
          </a:xfrm>
          <a:prstGeom prst="line">
            <a:avLst/>
          </a:prstGeom>
          <a:ln>
            <a:solidFill>
              <a:srgbClr val="8A6E3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flipV="1">
            <a:off x="4590535" y="5196896"/>
            <a:ext cx="3010932" cy="1051829"/>
          </a:xfrm>
          <a:prstGeom prst="curvedConnector3">
            <a:avLst>
              <a:gd name="adj1" fmla="val 50000"/>
            </a:avLst>
          </a:prstGeom>
          <a:ln>
            <a:gradFill>
              <a:gsLst>
                <a:gs pos="0">
                  <a:srgbClr val="DECDAC">
                    <a:alpha val="59000"/>
                  </a:srgbClr>
                </a:gs>
                <a:gs pos="97516">
                  <a:srgbClr val="DECDAC">
                    <a:alpha val="56000"/>
                  </a:srgbClr>
                </a:gs>
                <a:gs pos="45000">
                  <a:srgbClr val="9D7D3D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14005" y="6248725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864459" y="5196896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六边形 34"/>
          <p:cNvSpPr/>
          <p:nvPr/>
        </p:nvSpPr>
        <p:spPr>
          <a:xfrm rot="5400000" flipV="1">
            <a:off x="2123898" y="6074584"/>
            <a:ext cx="404008" cy="348283"/>
          </a:xfrm>
          <a:prstGeom prst="hexagon">
            <a:avLst/>
          </a:prstGeom>
          <a:solidFill>
            <a:srgbClr val="7F6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六边形 35"/>
          <p:cNvSpPr/>
          <p:nvPr/>
        </p:nvSpPr>
        <p:spPr>
          <a:xfrm rot="5400000" flipV="1">
            <a:off x="9867491" y="5026688"/>
            <a:ext cx="404008" cy="348283"/>
          </a:xfrm>
          <a:prstGeom prst="hexagon">
            <a:avLst/>
          </a:prstGeom>
          <a:noFill/>
          <a:ln>
            <a:solidFill>
              <a:srgbClr val="7F65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614040" y="3862865"/>
            <a:ext cx="626792" cy="342927"/>
          </a:xfrm>
          <a:prstGeom prst="rect">
            <a:avLst/>
          </a:prstGeom>
          <a:solidFill>
            <a:srgbClr val="E7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58F4BB7C-6CF2-70BA-6501-A0499D18D292}"/>
              </a:ext>
            </a:extLst>
          </p:cNvPr>
          <p:cNvSpPr txBox="1"/>
          <p:nvPr/>
        </p:nvSpPr>
        <p:spPr>
          <a:xfrm>
            <a:off x="1582056" y="1905506"/>
            <a:ext cx="451394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 err="1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Pytorch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Basic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(5%)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Backpropagation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10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%)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Image Classification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(15%)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Semantic segmentation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(15%)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  <a:p>
            <a:pPr marL="457200" indent="-457200">
              <a:buAutoNum type="arabicPeriod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Objects 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detection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(15%)</a:t>
            </a:r>
          </a:p>
          <a:p>
            <a:pPr marL="457200" indent="-457200"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Sequence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to sequence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(15%)</a:t>
            </a:r>
          </a:p>
          <a:p>
            <a:pPr marL="457200" indent="-457200"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Image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generation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(15%)</a:t>
            </a:r>
          </a:p>
          <a:p>
            <a:pPr marL="457200" indent="-457200"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Reinforcement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learning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(10%)</a:t>
            </a:r>
          </a:p>
          <a:p>
            <a:pPr marL="457200" indent="-457200">
              <a:buAutoNum type="arabicPeriod"/>
            </a:pP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P.S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The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percentages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above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indicate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the weight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of each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assignment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within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homework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grade,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not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within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overall</a:t>
            </a:r>
            <a:r>
              <a:rPr lang="zh-TW" altLang="en-US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1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semester grade.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35FE12-B35F-9CD2-DEAA-550544DF0B06}"/>
              </a:ext>
            </a:extLst>
          </p:cNvPr>
          <p:cNvSpPr txBox="1"/>
          <p:nvPr/>
        </p:nvSpPr>
        <p:spPr>
          <a:xfrm>
            <a:off x="1613423" y="1352836"/>
            <a:ext cx="1773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Homeworks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:</a:t>
            </a:r>
            <a:endParaRPr lang="zh-TW" altLang="en-US" sz="24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A85D99D-DF69-8FD7-77E2-0B5CE72E0DB5}"/>
              </a:ext>
            </a:extLst>
          </p:cNvPr>
          <p:cNvSpPr txBox="1"/>
          <p:nvPr/>
        </p:nvSpPr>
        <p:spPr>
          <a:xfrm>
            <a:off x="6916068" y="1455166"/>
            <a:ext cx="31534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Team projects:</a:t>
            </a:r>
          </a:p>
          <a:p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1. Midterm presentation</a:t>
            </a:r>
          </a:p>
          <a:p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2.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054285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8279" y="1949401"/>
            <a:ext cx="2998893" cy="3163679"/>
            <a:chOff x="1010131" y="1809293"/>
            <a:chExt cx="4283145" cy="4518500"/>
          </a:xfrm>
        </p:grpSpPr>
        <p:sp>
          <p:nvSpPr>
            <p:cNvPr id="3" name="等腰三角形 2"/>
            <p:cNvSpPr/>
            <p:nvPr/>
          </p:nvSpPr>
          <p:spPr>
            <a:xfrm flipV="1">
              <a:off x="1886858" y="2206171"/>
              <a:ext cx="2786742" cy="2540000"/>
            </a:xfrm>
            <a:prstGeom prst="triangle">
              <a:avLst/>
            </a:prstGeom>
            <a:noFill/>
            <a:ln>
              <a:solidFill>
                <a:srgbClr val="7F65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等腰三角形 3"/>
            <p:cNvSpPr/>
            <p:nvPr/>
          </p:nvSpPr>
          <p:spPr>
            <a:xfrm flipV="1">
              <a:off x="1295400" y="1809293"/>
              <a:ext cx="3813629" cy="3475965"/>
            </a:xfrm>
            <a:prstGeom prst="triangle">
              <a:avLst/>
            </a:prstGeom>
            <a:noFill/>
            <a:ln>
              <a:solidFill>
                <a:srgbClr val="C2A3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1010131" y="2423884"/>
              <a:ext cx="4283145" cy="3903909"/>
            </a:xfrm>
            <a:prstGeom prst="triangle">
              <a:avLst/>
            </a:prstGeom>
            <a:noFill/>
            <a:ln>
              <a:solidFill>
                <a:srgbClr val="D5BF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3151703" y="4051544"/>
              <a:ext cx="1456769" cy="1233714"/>
            </a:xfrm>
            <a:prstGeom prst="triangle">
              <a:avLst/>
            </a:prstGeom>
            <a:solidFill>
              <a:srgbClr val="9C7D3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080195" y="2406034"/>
            <a:ext cx="54937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8A6E36"/>
                </a:solidFill>
              </a:rPr>
              <a:t>HW1: </a:t>
            </a:r>
          </a:p>
          <a:p>
            <a:r>
              <a:rPr lang="en-US" altLang="zh-CN" sz="5400" b="1" dirty="0" err="1">
                <a:solidFill>
                  <a:srgbClr val="8A6E36"/>
                </a:solidFill>
              </a:rPr>
              <a:t>Pytorch</a:t>
            </a:r>
            <a:r>
              <a:rPr lang="en-US" altLang="zh-CN" sz="5400" b="1" dirty="0">
                <a:solidFill>
                  <a:srgbClr val="8A6E36"/>
                </a:solidFill>
              </a:rPr>
              <a:t> Basic</a:t>
            </a:r>
            <a:endParaRPr lang="zh-CN" altLang="en-US" sz="5400" b="1" dirty="0">
              <a:solidFill>
                <a:srgbClr val="8A6E36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7507358" y="1728600"/>
            <a:ext cx="1506434" cy="1165792"/>
          </a:xfrm>
          <a:prstGeom prst="line">
            <a:avLst/>
          </a:prstGeom>
          <a:ln>
            <a:solidFill>
              <a:srgbClr val="7F6531"/>
            </a:solidFill>
            <a:head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8286597" y="1006526"/>
            <a:ext cx="1287357" cy="942875"/>
          </a:xfrm>
          <a:prstGeom prst="line">
            <a:avLst/>
          </a:prstGeom>
          <a:ln w="28575">
            <a:gradFill>
              <a:gsLst>
                <a:gs pos="100000">
                  <a:srgbClr val="D0B786">
                    <a:alpha val="40000"/>
                  </a:srgbClr>
                </a:gs>
                <a:gs pos="0">
                  <a:srgbClr val="8A6E36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8068304" y="1505683"/>
            <a:ext cx="1567543" cy="1165792"/>
          </a:xfrm>
          <a:prstGeom prst="line">
            <a:avLst/>
          </a:prstGeom>
          <a:ln>
            <a:gradFill>
              <a:gsLst>
                <a:gs pos="100000">
                  <a:srgbClr val="D0B786">
                    <a:alpha val="0"/>
                  </a:srgbClr>
                </a:gs>
                <a:gs pos="0">
                  <a:srgbClr val="8A6E36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29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2F90-FD9A-1AE5-0732-B99743C7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9EA530-6EE3-D058-7695-E95AF8D6B626}"/>
              </a:ext>
            </a:extLst>
          </p:cNvPr>
          <p:cNvSpPr/>
          <p:nvPr/>
        </p:nvSpPr>
        <p:spPr>
          <a:xfrm>
            <a:off x="870857" y="566057"/>
            <a:ext cx="544286" cy="544286"/>
          </a:xfrm>
          <a:prstGeom prst="rect">
            <a:avLst/>
          </a:prstGeom>
          <a:solidFill>
            <a:srgbClr val="8A6E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F0F69A-C4C3-7E64-C415-6477334D6603}"/>
              </a:ext>
            </a:extLst>
          </p:cNvPr>
          <p:cNvSpPr txBox="1"/>
          <p:nvPr/>
        </p:nvSpPr>
        <p:spPr>
          <a:xfrm>
            <a:off x="1582056" y="566057"/>
            <a:ext cx="383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</a:t>
            </a:r>
            <a:r>
              <a:rPr lang="zh-CN" altLang="en-US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3200" b="1" dirty="0" err="1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Pytorch</a:t>
            </a:r>
            <a:r>
              <a:rPr lang="en-US" altLang="zh-CN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7C58784-1A3F-5731-2B0C-AE07D90B6E84}"/>
              </a:ext>
            </a:extLst>
          </p:cNvPr>
          <p:cNvCxnSpPr/>
          <p:nvPr/>
        </p:nvCxnSpPr>
        <p:spPr>
          <a:xfrm>
            <a:off x="1582057" y="1110343"/>
            <a:ext cx="1494972" cy="0"/>
          </a:xfrm>
          <a:prstGeom prst="line">
            <a:avLst/>
          </a:prstGeom>
          <a:ln>
            <a:solidFill>
              <a:srgbClr val="8A6E3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DC4FA0F4-2F1E-E005-7667-E89301EDC46D}"/>
              </a:ext>
            </a:extLst>
          </p:cNvPr>
          <p:cNvCxnSpPr/>
          <p:nvPr/>
        </p:nvCxnSpPr>
        <p:spPr>
          <a:xfrm flipV="1">
            <a:off x="4590535" y="5196896"/>
            <a:ext cx="3010932" cy="1051829"/>
          </a:xfrm>
          <a:prstGeom prst="curvedConnector3">
            <a:avLst>
              <a:gd name="adj1" fmla="val 50000"/>
            </a:avLst>
          </a:prstGeom>
          <a:ln>
            <a:gradFill>
              <a:gsLst>
                <a:gs pos="0">
                  <a:srgbClr val="DECDAC">
                    <a:alpha val="59000"/>
                  </a:srgbClr>
                </a:gs>
                <a:gs pos="97516">
                  <a:srgbClr val="DECDAC">
                    <a:alpha val="56000"/>
                  </a:srgbClr>
                </a:gs>
                <a:gs pos="45000">
                  <a:srgbClr val="9D7D3D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FF73854-456B-6683-6BEA-AE2D60FFB30D}"/>
              </a:ext>
            </a:extLst>
          </p:cNvPr>
          <p:cNvCxnSpPr/>
          <p:nvPr/>
        </p:nvCxnSpPr>
        <p:spPr>
          <a:xfrm>
            <a:off x="114005" y="6248725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28121F3-8CFE-88BB-DEDF-46181B03ECE6}"/>
              </a:ext>
            </a:extLst>
          </p:cNvPr>
          <p:cNvCxnSpPr/>
          <p:nvPr/>
        </p:nvCxnSpPr>
        <p:spPr>
          <a:xfrm>
            <a:off x="7864459" y="5196896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六边形 34">
            <a:extLst>
              <a:ext uri="{FF2B5EF4-FFF2-40B4-BE49-F238E27FC236}">
                <a16:creationId xmlns:a16="http://schemas.microsoft.com/office/drawing/2014/main" id="{8E6D48A4-6C85-6EAA-D8BC-50DA96DCA09C}"/>
              </a:ext>
            </a:extLst>
          </p:cNvPr>
          <p:cNvSpPr/>
          <p:nvPr/>
        </p:nvSpPr>
        <p:spPr>
          <a:xfrm rot="5400000" flipV="1">
            <a:off x="2123898" y="6074584"/>
            <a:ext cx="404008" cy="348283"/>
          </a:xfrm>
          <a:prstGeom prst="hexagon">
            <a:avLst/>
          </a:prstGeom>
          <a:solidFill>
            <a:srgbClr val="7F6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5ADCA239-2B00-E8DC-5E34-C9B89BC097DD}"/>
              </a:ext>
            </a:extLst>
          </p:cNvPr>
          <p:cNvSpPr/>
          <p:nvPr/>
        </p:nvSpPr>
        <p:spPr>
          <a:xfrm rot="5400000" flipV="1">
            <a:off x="9867491" y="5026688"/>
            <a:ext cx="404008" cy="348283"/>
          </a:xfrm>
          <a:prstGeom prst="hexagon">
            <a:avLst/>
          </a:prstGeom>
          <a:noFill/>
          <a:ln>
            <a:solidFill>
              <a:srgbClr val="7F65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E94B6F-007C-9945-7727-784EA698ED83}"/>
              </a:ext>
            </a:extLst>
          </p:cNvPr>
          <p:cNvSpPr/>
          <p:nvPr/>
        </p:nvSpPr>
        <p:spPr>
          <a:xfrm>
            <a:off x="4614040" y="3862865"/>
            <a:ext cx="626792" cy="342927"/>
          </a:xfrm>
          <a:prstGeom prst="rect">
            <a:avLst/>
          </a:prstGeom>
          <a:solidFill>
            <a:srgbClr val="E7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E89BE6F6-E2F5-64E3-E659-509A4CB04631}"/>
              </a:ext>
            </a:extLst>
          </p:cNvPr>
          <p:cNvSpPr txBox="1"/>
          <p:nvPr/>
        </p:nvSpPr>
        <p:spPr>
          <a:xfrm>
            <a:off x="710284" y="1654356"/>
            <a:ext cx="6021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It widely supports various type of GPU.</a:t>
            </a:r>
          </a:p>
          <a:p>
            <a:pPr marL="457200" indent="-457200"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Efficient gradient computing. 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Big communities.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026" name="Picture 2" descr="torch · PyPI">
            <a:extLst>
              <a:ext uri="{FF2B5EF4-FFF2-40B4-BE49-F238E27FC236}">
                <a16:creationId xmlns:a16="http://schemas.microsoft.com/office/drawing/2014/main" id="{8D7E03C3-4ACF-D587-714B-3CF83CED0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947" y="1649868"/>
            <a:ext cx="6021190" cy="120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3CA4AB7-F7B8-04AA-80CA-9712304FD0B3}"/>
              </a:ext>
            </a:extLst>
          </p:cNvPr>
          <p:cNvSpPr txBox="1"/>
          <p:nvPr/>
        </p:nvSpPr>
        <p:spPr>
          <a:xfrm>
            <a:off x="710284" y="38961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hlinkClick r:id="rId4"/>
              </a:rPr>
              <a:t>PyTorch</a:t>
            </a:r>
            <a:r>
              <a:rPr lang="en-US" altLang="zh-TW" dirty="0">
                <a:hlinkClick r:id="rId4"/>
              </a:rPr>
              <a:t> documentation — </a:t>
            </a:r>
            <a:r>
              <a:rPr lang="en-US" altLang="zh-TW" dirty="0" err="1">
                <a:hlinkClick r:id="rId4"/>
              </a:rPr>
              <a:t>PyTorch</a:t>
            </a:r>
            <a:r>
              <a:rPr lang="en-US" altLang="zh-TW" dirty="0">
                <a:hlinkClick r:id="rId4"/>
              </a:rPr>
              <a:t> 2.14 documentation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937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DF40-D2A0-88D2-40BB-49B886A3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A3AC14-BE5D-F258-2044-96EB37ADFB63}"/>
              </a:ext>
            </a:extLst>
          </p:cNvPr>
          <p:cNvSpPr/>
          <p:nvPr/>
        </p:nvSpPr>
        <p:spPr>
          <a:xfrm>
            <a:off x="870857" y="566057"/>
            <a:ext cx="544286" cy="544286"/>
          </a:xfrm>
          <a:prstGeom prst="rect">
            <a:avLst/>
          </a:prstGeom>
          <a:solidFill>
            <a:srgbClr val="8A6E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6FCF9D-37E9-1959-EB14-8F6C5DCD9C41}"/>
              </a:ext>
            </a:extLst>
          </p:cNvPr>
          <p:cNvSpPr txBox="1"/>
          <p:nvPr/>
        </p:nvSpPr>
        <p:spPr>
          <a:xfrm>
            <a:off x="1582056" y="566057"/>
            <a:ext cx="3832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</a:t>
            </a:r>
            <a:r>
              <a:rPr lang="zh-TW" altLang="en-US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zh-TW" altLang="en-US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</a:t>
            </a:r>
            <a:r>
              <a:rPr lang="zh-TW" altLang="en-US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</a:t>
            </a:r>
            <a:r>
              <a:rPr lang="zh-TW" altLang="en-US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HW</a:t>
            </a:r>
            <a:r>
              <a:rPr lang="en-US" altLang="zh-CN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FC0D3E7-8205-33D2-6456-52BB7ADD64F2}"/>
              </a:ext>
            </a:extLst>
          </p:cNvPr>
          <p:cNvCxnSpPr/>
          <p:nvPr/>
        </p:nvCxnSpPr>
        <p:spPr>
          <a:xfrm>
            <a:off x="1582057" y="1110343"/>
            <a:ext cx="1494972" cy="0"/>
          </a:xfrm>
          <a:prstGeom prst="line">
            <a:avLst/>
          </a:prstGeom>
          <a:ln>
            <a:solidFill>
              <a:srgbClr val="8A6E3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A51F6D51-8F00-3E44-458E-EB7C0A0F954E}"/>
              </a:ext>
            </a:extLst>
          </p:cNvPr>
          <p:cNvCxnSpPr/>
          <p:nvPr/>
        </p:nvCxnSpPr>
        <p:spPr>
          <a:xfrm flipV="1">
            <a:off x="4590535" y="5196896"/>
            <a:ext cx="3010932" cy="1051829"/>
          </a:xfrm>
          <a:prstGeom prst="curvedConnector3">
            <a:avLst>
              <a:gd name="adj1" fmla="val 50000"/>
            </a:avLst>
          </a:prstGeom>
          <a:ln>
            <a:gradFill>
              <a:gsLst>
                <a:gs pos="0">
                  <a:srgbClr val="DECDAC">
                    <a:alpha val="59000"/>
                  </a:srgbClr>
                </a:gs>
                <a:gs pos="97516">
                  <a:srgbClr val="DECDAC">
                    <a:alpha val="56000"/>
                  </a:srgbClr>
                </a:gs>
                <a:gs pos="45000">
                  <a:srgbClr val="9D7D3D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315E91F-7D90-D8FD-89C9-C206E9F2ED27}"/>
              </a:ext>
            </a:extLst>
          </p:cNvPr>
          <p:cNvCxnSpPr/>
          <p:nvPr/>
        </p:nvCxnSpPr>
        <p:spPr>
          <a:xfrm>
            <a:off x="114005" y="6248725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5CB7876-AF4D-00C9-D51C-C559B697A2F7}"/>
              </a:ext>
            </a:extLst>
          </p:cNvPr>
          <p:cNvCxnSpPr/>
          <p:nvPr/>
        </p:nvCxnSpPr>
        <p:spPr>
          <a:xfrm>
            <a:off x="7864459" y="5196896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六边形 34">
            <a:extLst>
              <a:ext uri="{FF2B5EF4-FFF2-40B4-BE49-F238E27FC236}">
                <a16:creationId xmlns:a16="http://schemas.microsoft.com/office/drawing/2014/main" id="{34D22EC6-5BB0-BA5D-B69D-D4410B74F3A6}"/>
              </a:ext>
            </a:extLst>
          </p:cNvPr>
          <p:cNvSpPr/>
          <p:nvPr/>
        </p:nvSpPr>
        <p:spPr>
          <a:xfrm rot="5400000" flipV="1">
            <a:off x="2123898" y="6074584"/>
            <a:ext cx="404008" cy="348283"/>
          </a:xfrm>
          <a:prstGeom prst="hexagon">
            <a:avLst/>
          </a:prstGeom>
          <a:solidFill>
            <a:srgbClr val="7F6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6ACC6B62-78CD-F1A1-C3A4-12C3ECEF70BF}"/>
              </a:ext>
            </a:extLst>
          </p:cNvPr>
          <p:cNvSpPr/>
          <p:nvPr/>
        </p:nvSpPr>
        <p:spPr>
          <a:xfrm rot="5400000" flipV="1">
            <a:off x="9867491" y="5026688"/>
            <a:ext cx="404008" cy="348283"/>
          </a:xfrm>
          <a:prstGeom prst="hexagon">
            <a:avLst/>
          </a:prstGeom>
          <a:noFill/>
          <a:ln>
            <a:solidFill>
              <a:srgbClr val="7F65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F26928-2D1E-FA49-9BF3-F475D642D565}"/>
              </a:ext>
            </a:extLst>
          </p:cNvPr>
          <p:cNvSpPr/>
          <p:nvPr/>
        </p:nvSpPr>
        <p:spPr>
          <a:xfrm>
            <a:off x="4614040" y="3862865"/>
            <a:ext cx="626792" cy="342927"/>
          </a:xfrm>
          <a:prstGeom prst="rect">
            <a:avLst/>
          </a:prstGeom>
          <a:solidFill>
            <a:srgbClr val="E7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 descr="Visual Studio Code - 在Windows 上下載並安裝| Microsoft Store">
            <a:extLst>
              <a:ext uri="{FF2B5EF4-FFF2-40B4-BE49-F238E27FC236}">
                <a16:creationId xmlns:a16="http://schemas.microsoft.com/office/drawing/2014/main" id="{67A08B63-F5B2-D276-BD58-D7EA2381B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53" y="1352836"/>
            <a:ext cx="1817974" cy="181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llustrisTNG - Data Access - Lab">
            <a:extLst>
              <a:ext uri="{FF2B5EF4-FFF2-40B4-BE49-F238E27FC236}">
                <a16:creationId xmlns:a16="http://schemas.microsoft.com/office/drawing/2014/main" id="{970BAE7A-2AEB-5904-2FF2-DCEDABC0F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586" y="3329965"/>
            <a:ext cx="2263909" cy="10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使用Google Colab - Python 教學| STEAM 教育學習網">
            <a:extLst>
              <a:ext uri="{FF2B5EF4-FFF2-40B4-BE49-F238E27FC236}">
                <a16:creationId xmlns:a16="http://schemas.microsoft.com/office/drawing/2014/main" id="{43639884-4B17-1E71-6E3C-C0603F6A7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8" t="13661" r="16783" b="13765"/>
          <a:stretch>
            <a:fillRect/>
          </a:stretch>
        </p:blipFill>
        <p:spPr bwMode="auto">
          <a:xfrm>
            <a:off x="1583586" y="4518168"/>
            <a:ext cx="2263909" cy="128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9C37418-AA01-4F70-954B-12613B788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410" y="609275"/>
            <a:ext cx="5400000" cy="55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6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DE8C-8FFD-EA8F-0C33-DB084207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29C506-85FA-4CAA-6C00-BFC978658FC6}"/>
              </a:ext>
            </a:extLst>
          </p:cNvPr>
          <p:cNvSpPr/>
          <p:nvPr/>
        </p:nvSpPr>
        <p:spPr>
          <a:xfrm>
            <a:off x="870857" y="566057"/>
            <a:ext cx="544286" cy="544286"/>
          </a:xfrm>
          <a:prstGeom prst="rect">
            <a:avLst/>
          </a:prstGeom>
          <a:solidFill>
            <a:srgbClr val="8A6E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858030-89BE-070F-D8FE-3AF49C7BD4F8}"/>
              </a:ext>
            </a:extLst>
          </p:cNvPr>
          <p:cNvSpPr txBox="1"/>
          <p:nvPr/>
        </p:nvSpPr>
        <p:spPr>
          <a:xfrm>
            <a:off x="1582055" y="566057"/>
            <a:ext cx="453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r>
              <a:rPr lang="zh-TW" altLang="en-US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</a:t>
            </a:r>
            <a:r>
              <a:rPr lang="en-US" altLang="zh-CN" sz="3200" b="1" dirty="0">
                <a:solidFill>
                  <a:srgbClr val="8A6E3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BC8F5C7-6C7E-2055-E770-9DB73C0175FF}"/>
              </a:ext>
            </a:extLst>
          </p:cNvPr>
          <p:cNvCxnSpPr/>
          <p:nvPr/>
        </p:nvCxnSpPr>
        <p:spPr>
          <a:xfrm>
            <a:off x="1582057" y="1110343"/>
            <a:ext cx="1494972" cy="0"/>
          </a:xfrm>
          <a:prstGeom prst="line">
            <a:avLst/>
          </a:prstGeom>
          <a:ln>
            <a:solidFill>
              <a:srgbClr val="8A6E3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2EEE78B2-D71F-A5D3-9D8A-08AF2A9D77A2}"/>
              </a:ext>
            </a:extLst>
          </p:cNvPr>
          <p:cNvCxnSpPr/>
          <p:nvPr/>
        </p:nvCxnSpPr>
        <p:spPr>
          <a:xfrm flipV="1">
            <a:off x="4590535" y="5196896"/>
            <a:ext cx="3010932" cy="1051829"/>
          </a:xfrm>
          <a:prstGeom prst="curvedConnector3">
            <a:avLst>
              <a:gd name="adj1" fmla="val 50000"/>
            </a:avLst>
          </a:prstGeom>
          <a:ln>
            <a:gradFill>
              <a:gsLst>
                <a:gs pos="0">
                  <a:srgbClr val="DECDAC">
                    <a:alpha val="59000"/>
                  </a:srgbClr>
                </a:gs>
                <a:gs pos="97516">
                  <a:srgbClr val="DECDAC">
                    <a:alpha val="56000"/>
                  </a:srgbClr>
                </a:gs>
                <a:gs pos="45000">
                  <a:srgbClr val="9D7D3D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6953514-1813-AC64-852A-8F2C0CBA9826}"/>
              </a:ext>
            </a:extLst>
          </p:cNvPr>
          <p:cNvCxnSpPr/>
          <p:nvPr/>
        </p:nvCxnSpPr>
        <p:spPr>
          <a:xfrm>
            <a:off x="114005" y="6248725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801ABDF-DE94-1CD7-9D91-8A6C61464CCE}"/>
              </a:ext>
            </a:extLst>
          </p:cNvPr>
          <p:cNvCxnSpPr/>
          <p:nvPr/>
        </p:nvCxnSpPr>
        <p:spPr>
          <a:xfrm>
            <a:off x="7864459" y="5196896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六边形 34">
            <a:extLst>
              <a:ext uri="{FF2B5EF4-FFF2-40B4-BE49-F238E27FC236}">
                <a16:creationId xmlns:a16="http://schemas.microsoft.com/office/drawing/2014/main" id="{B5862F75-CBAF-3FA9-5379-8C177A0B5411}"/>
              </a:ext>
            </a:extLst>
          </p:cNvPr>
          <p:cNvSpPr/>
          <p:nvPr/>
        </p:nvSpPr>
        <p:spPr>
          <a:xfrm rot="5400000" flipV="1">
            <a:off x="2123898" y="6074584"/>
            <a:ext cx="404008" cy="348283"/>
          </a:xfrm>
          <a:prstGeom prst="hexagon">
            <a:avLst/>
          </a:prstGeom>
          <a:solidFill>
            <a:srgbClr val="7F6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08760E5-2DCB-AE8A-FB8E-5A185D3037A3}"/>
              </a:ext>
            </a:extLst>
          </p:cNvPr>
          <p:cNvSpPr/>
          <p:nvPr/>
        </p:nvSpPr>
        <p:spPr>
          <a:xfrm rot="5400000" flipV="1">
            <a:off x="9867491" y="5026688"/>
            <a:ext cx="404008" cy="348283"/>
          </a:xfrm>
          <a:prstGeom prst="hexagon">
            <a:avLst/>
          </a:prstGeom>
          <a:noFill/>
          <a:ln>
            <a:solidFill>
              <a:srgbClr val="7F65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E51FB68-E1CC-5CDF-5E2D-49CD481E9446}"/>
              </a:ext>
            </a:extLst>
          </p:cNvPr>
          <p:cNvSpPr/>
          <p:nvPr/>
        </p:nvSpPr>
        <p:spPr>
          <a:xfrm>
            <a:off x="4614040" y="3862865"/>
            <a:ext cx="626792" cy="342927"/>
          </a:xfrm>
          <a:prstGeom prst="rect">
            <a:avLst/>
          </a:prstGeom>
          <a:solidFill>
            <a:srgbClr val="E7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16">
            <a:extLst>
              <a:ext uri="{FF2B5EF4-FFF2-40B4-BE49-F238E27FC236}">
                <a16:creationId xmlns:a16="http://schemas.microsoft.com/office/drawing/2014/main" id="{25CB71D0-3745-6120-1E15-15A5D2A63A43}"/>
              </a:ext>
            </a:extLst>
          </p:cNvPr>
          <p:cNvSpPr txBox="1"/>
          <p:nvPr/>
        </p:nvSpPr>
        <p:spPr>
          <a:xfrm>
            <a:off x="1023791" y="1794806"/>
            <a:ext cx="98183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Deadline: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9/21</a:t>
            </a:r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23:59</a:t>
            </a:r>
          </a:p>
          <a:p>
            <a:pPr marL="457200" indent="-457200"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Only </a:t>
            </a:r>
            <a:r>
              <a:rPr lang="en-US" altLang="zh-TW" sz="2400" b="1" u="sng" dirty="0" err="1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ipynb</a:t>
            </a: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file is acceptable. Or you will get 0 score.</a:t>
            </a:r>
          </a:p>
          <a:p>
            <a:pPr marL="457200" indent="-457200">
              <a:buFontTx/>
              <a:buAutoNum type="arabicPeriod"/>
            </a:pPr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Please strictly follow the provided code framework. 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Do not copy others code.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Hand on Filename : HW1_SID.ipynb</a:t>
            </a:r>
          </a:p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	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e.g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HW1_313831019.ipynb</a:t>
            </a:r>
          </a:p>
        </p:txBody>
      </p:sp>
    </p:spTree>
    <p:extLst>
      <p:ext uri="{BB962C8B-B14F-4D97-AF65-F5344CB8AC3E}">
        <p14:creationId xmlns:p14="http://schemas.microsoft.com/office/powerpoint/2010/main" val="417046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5F5F-FD23-1F4E-A6B5-42B75FAF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18A676A1-B503-DE3E-12A0-2DDED878F11F}"/>
              </a:ext>
            </a:extLst>
          </p:cNvPr>
          <p:cNvCxnSpPr/>
          <p:nvPr/>
        </p:nvCxnSpPr>
        <p:spPr>
          <a:xfrm flipV="1">
            <a:off x="4590535" y="5196896"/>
            <a:ext cx="3010932" cy="1051829"/>
          </a:xfrm>
          <a:prstGeom prst="curvedConnector3">
            <a:avLst>
              <a:gd name="adj1" fmla="val 50000"/>
            </a:avLst>
          </a:prstGeom>
          <a:ln>
            <a:gradFill>
              <a:gsLst>
                <a:gs pos="0">
                  <a:srgbClr val="DECDAC">
                    <a:alpha val="59000"/>
                  </a:srgbClr>
                </a:gs>
                <a:gs pos="97516">
                  <a:srgbClr val="DECDAC">
                    <a:alpha val="56000"/>
                  </a:srgbClr>
                </a:gs>
                <a:gs pos="45000">
                  <a:srgbClr val="9D7D3D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5904E38-24B3-A820-654A-4FEF2ACBA8A2}"/>
              </a:ext>
            </a:extLst>
          </p:cNvPr>
          <p:cNvCxnSpPr/>
          <p:nvPr/>
        </p:nvCxnSpPr>
        <p:spPr>
          <a:xfrm>
            <a:off x="114005" y="6248725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03BC50A-C928-F41E-59BB-0DE0403F2680}"/>
              </a:ext>
            </a:extLst>
          </p:cNvPr>
          <p:cNvCxnSpPr/>
          <p:nvPr/>
        </p:nvCxnSpPr>
        <p:spPr>
          <a:xfrm>
            <a:off x="7864459" y="5196896"/>
            <a:ext cx="4277678" cy="0"/>
          </a:xfrm>
          <a:prstGeom prst="line">
            <a:avLst/>
          </a:prstGeom>
          <a:ln w="3175">
            <a:gradFill>
              <a:gsLst>
                <a:gs pos="50900">
                  <a:srgbClr val="9D7D3D"/>
                </a:gs>
                <a:gs pos="100000">
                  <a:srgbClr val="DECDAC">
                    <a:alpha val="61000"/>
                  </a:srgbClr>
                </a:gs>
                <a:gs pos="0">
                  <a:srgbClr val="DECDAC">
                    <a:alpha val="64000"/>
                  </a:srgbClr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六边形 34">
            <a:extLst>
              <a:ext uri="{FF2B5EF4-FFF2-40B4-BE49-F238E27FC236}">
                <a16:creationId xmlns:a16="http://schemas.microsoft.com/office/drawing/2014/main" id="{91C87C0C-67C4-5979-A527-2A2F92C1E71E}"/>
              </a:ext>
            </a:extLst>
          </p:cNvPr>
          <p:cNvSpPr/>
          <p:nvPr/>
        </p:nvSpPr>
        <p:spPr>
          <a:xfrm rot="5400000" flipV="1">
            <a:off x="2123898" y="6074584"/>
            <a:ext cx="404008" cy="348283"/>
          </a:xfrm>
          <a:prstGeom prst="hexagon">
            <a:avLst/>
          </a:prstGeom>
          <a:solidFill>
            <a:srgbClr val="7F6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708E0596-6B7A-2CC4-CFBF-7F390354F89F}"/>
              </a:ext>
            </a:extLst>
          </p:cNvPr>
          <p:cNvSpPr/>
          <p:nvPr/>
        </p:nvSpPr>
        <p:spPr>
          <a:xfrm rot="5400000" flipV="1">
            <a:off x="9867491" y="5026688"/>
            <a:ext cx="404008" cy="348283"/>
          </a:xfrm>
          <a:prstGeom prst="hexagon">
            <a:avLst/>
          </a:prstGeom>
          <a:noFill/>
          <a:ln>
            <a:solidFill>
              <a:srgbClr val="7F65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D647575-60BC-0279-CE60-C5F367C0029F}"/>
              </a:ext>
            </a:extLst>
          </p:cNvPr>
          <p:cNvSpPr/>
          <p:nvPr/>
        </p:nvSpPr>
        <p:spPr>
          <a:xfrm>
            <a:off x="4614040" y="3862865"/>
            <a:ext cx="626792" cy="342927"/>
          </a:xfrm>
          <a:prstGeom prst="rect">
            <a:avLst/>
          </a:prstGeom>
          <a:solidFill>
            <a:srgbClr val="E7E8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16">
            <a:extLst>
              <a:ext uri="{FF2B5EF4-FFF2-40B4-BE49-F238E27FC236}">
                <a16:creationId xmlns:a16="http://schemas.microsoft.com/office/drawing/2014/main" id="{ECABDECC-EDA6-D34E-B5A6-4FD2CB209B61}"/>
              </a:ext>
            </a:extLst>
          </p:cNvPr>
          <p:cNvSpPr txBox="1"/>
          <p:nvPr/>
        </p:nvSpPr>
        <p:spPr>
          <a:xfrm>
            <a:off x="1328591" y="802029"/>
            <a:ext cx="9818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T</a:t>
            </a:r>
            <a:r>
              <a:rPr lang="en-US" altLang="zh-TW" sz="5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As</a:t>
            </a:r>
            <a:r>
              <a:rPr lang="zh-TW" altLang="en-US" sz="5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altLang="zh-TW" sz="5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:</a:t>
            </a:r>
            <a:endParaRPr lang="en-US" altLang="zh-CN" sz="54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8" name="文本框 16">
            <a:extLst>
              <a:ext uri="{FF2B5EF4-FFF2-40B4-BE49-F238E27FC236}">
                <a16:creationId xmlns:a16="http://schemas.microsoft.com/office/drawing/2014/main" id="{1D8221C6-5E02-0A19-7FA3-CF6EB73B2C6A}"/>
              </a:ext>
            </a:extLst>
          </p:cNvPr>
          <p:cNvSpPr txBox="1"/>
          <p:nvPr/>
        </p:nvSpPr>
        <p:spPr>
          <a:xfrm>
            <a:off x="1450511" y="1919687"/>
            <a:ext cx="9818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吳仁傑</a:t>
            </a:r>
            <a:endParaRPr lang="en-US" altLang="zh-TW" sz="2400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  <a:hlinkClick r:id="rId3"/>
              </a:rPr>
              <a:t>wljurse.ai14@nycu.edu.tw</a:t>
            </a:r>
            <a:endParaRPr lang="en-US" altLang="zh-TW" sz="24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  <a:p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zh-TW" altLang="en-US" sz="24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李俊彥</a:t>
            </a:r>
            <a:endParaRPr lang="en-US" altLang="zh-TW" sz="2400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  <a:hlinkClick r:id="rId4"/>
              </a:rPr>
              <a:t>jimmyli90719.ai14@nycu.edu.tw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BE471CD-D07B-51BF-4ED8-A91DE23536CD}"/>
              </a:ext>
            </a:extLst>
          </p:cNvPr>
          <p:cNvSpPr txBox="1"/>
          <p:nvPr/>
        </p:nvSpPr>
        <p:spPr>
          <a:xfrm>
            <a:off x="1450511" y="4285845"/>
            <a:ext cx="52613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Feel free to email us</a:t>
            </a:r>
          </a:p>
          <a:p>
            <a:r>
              <a:rPr lang="en-US" altLang="zh-TW" sz="24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or meet up at 224 room, Go Far building.</a:t>
            </a:r>
            <a:endParaRPr lang="zh-TW" altLang="en-US" sz="2400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2199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Theme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299</Words>
  <Application>Microsoft Office PowerPoint</Application>
  <PresentationFormat>寬螢幕</PresentationFormat>
  <Paragraphs>50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等线</vt:lpstr>
      <vt:lpstr>微軟正黑體</vt:lpstr>
      <vt:lpstr>Arial</vt:lpstr>
      <vt:lpstr>Baskerville Old Face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吳仁傑</cp:lastModifiedBy>
  <cp:revision>48</cp:revision>
  <dcterms:created xsi:type="dcterms:W3CDTF">2017-08-18T03:02:00Z</dcterms:created>
  <dcterms:modified xsi:type="dcterms:W3CDTF">2026-09-08T01:42:17Z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